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743" r:id="rId5"/>
    <p:sldId id="258" r:id="rId6"/>
    <p:sldId id="257" r:id="rId7"/>
    <p:sldId id="715" r:id="rId8"/>
    <p:sldId id="747" r:id="rId9"/>
    <p:sldId id="265" r:id="rId10"/>
    <p:sldId id="730" r:id="rId11"/>
    <p:sldId id="749" r:id="rId12"/>
    <p:sldId id="753" r:id="rId13"/>
    <p:sldId id="750" r:id="rId14"/>
    <p:sldId id="733" r:id="rId15"/>
    <p:sldId id="751" r:id="rId16"/>
    <p:sldId id="739" r:id="rId17"/>
    <p:sldId id="710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mqin" initials="w" lastIdx="1" clrIdx="0"/>
  <p:cmAuthor id="2" name="NUC" initials="N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46" autoAdjust="0"/>
  </p:normalViewPr>
  <p:slideViewPr>
    <p:cSldViewPr snapToGrid="0">
      <p:cViewPr>
        <p:scale>
          <a:sx n="100" d="100"/>
          <a:sy n="100" d="100"/>
        </p:scale>
        <p:origin x="1194" y="-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0F4EA-DC3A-40EF-92D0-D08CCCEEB260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C9EB-CA76-4710-89D9-8F5F4D08B54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C9EB-CA76-4710-89D9-8F5F4D08B54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C9EB-CA76-4710-89D9-8F5F4D08B54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843677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i="0" dirty="0" err="1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MXCuBE</a:t>
            </a:r>
            <a:r>
              <a:rPr lang="en-US" altLang="zh-CN" sz="54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 | LIMS</a:t>
            </a:r>
            <a:endParaRPr lang="en-US" altLang="zh-CN" sz="54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  <a:p>
            <a:pPr algn="ctr"/>
            <a:r>
              <a:rPr lang="en-US" altLang="zh-CN" sz="24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Site Report: SSRF / NFPSS</a:t>
            </a:r>
            <a:endParaRPr lang="en-US" altLang="zh-CN" sz="24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  <a:p>
            <a:pPr algn="ctr"/>
            <a:endParaRPr lang="en-US" altLang="zh-CN" b="1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1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r>
              <a:rPr lang="en-US" altLang="zh-CN" b="1" i="0" dirty="0" err="1">
                <a:solidFill>
                  <a:srgbClr val="1E293B"/>
                </a:solidFill>
                <a:effectLst/>
                <a:latin typeface="DM Sans"/>
              </a:rPr>
              <a:t>Wenming</a:t>
            </a:r>
            <a:r>
              <a:rPr lang="en-US" altLang="zh-CN" b="1" i="0" dirty="0">
                <a:solidFill>
                  <a:srgbClr val="1E293B"/>
                </a:solidFill>
                <a:effectLst/>
                <a:latin typeface="DM Sans"/>
              </a:rPr>
              <a:t> Qin</a:t>
            </a:r>
            <a:endParaRPr lang="en-US" altLang="zh-CN" b="1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1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1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r>
              <a:rPr lang="en-US" altLang="zh-CN" b="0" i="0" dirty="0">
                <a:solidFill>
                  <a:srgbClr val="1E293B"/>
                </a:solidFill>
                <a:effectLst/>
                <a:latin typeface="DM Sans"/>
              </a:rPr>
              <a:t>National Facility for Protein Science in Shanghai (NFPSS)</a:t>
            </a:r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r>
              <a:rPr lang="en-US" altLang="zh-CN" b="0" i="0" dirty="0">
                <a:solidFill>
                  <a:srgbClr val="1E293B"/>
                </a:solidFill>
                <a:effectLst/>
                <a:latin typeface="DM Sans"/>
              </a:rPr>
              <a:t>Shanghai Synchrotron Radiation Facility (SSRF)</a:t>
            </a:r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dirty="0">
              <a:solidFill>
                <a:srgbClr val="1E293B"/>
              </a:solidFill>
              <a:latin typeface="DM Sans"/>
            </a:endParaRPr>
          </a:p>
          <a:p>
            <a:pPr algn="ctr"/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  <a:p>
            <a:pPr algn="ctr"/>
            <a:r>
              <a:rPr lang="en-US" altLang="zh-CN" b="0" i="0" dirty="0">
                <a:solidFill>
                  <a:srgbClr val="1E293B"/>
                </a:solidFill>
                <a:effectLst/>
                <a:latin typeface="DM Sans"/>
              </a:rPr>
              <a:t>June 2026</a:t>
            </a:r>
            <a:endParaRPr lang="en-US" altLang="zh-CN" b="0" i="0" dirty="0">
              <a:solidFill>
                <a:srgbClr val="1E293B"/>
              </a:solidFill>
              <a:effectLst/>
              <a:latin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75"/>
    </mc:Choice>
    <mc:Fallback>
      <p:transition spd="slow" advTm="151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53086" y="2210248"/>
            <a:ext cx="7237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Facility Overview</a:t>
            </a:r>
            <a:endParaRPr lang="en-US" altLang="zh-CN" sz="54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756074" y="3404381"/>
            <a:ext cx="102694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554" y="81031"/>
            <a:ext cx="6025368" cy="868429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SSRF Storage Ring &amp; Parameters</a:t>
            </a:r>
            <a:endParaRPr lang="en-US" altLang="zh-CN" sz="28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739" y="4204180"/>
            <a:ext cx="3295176" cy="1823823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371739" y="1462933"/>
            <a:ext cx="3295176" cy="2583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 Black" panose="020B0A04020102020204" pitchFamily="34" charset="0"/>
              </a:rPr>
              <a:t>SSRF Ring Parameters</a:t>
            </a:r>
            <a:endParaRPr lang="en-US" altLang="zh-CN" sz="1600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Electron Energy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3.5 GeV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Electron Current:  300 mA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Circumference:     432 m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Straight sections:  20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496924" y="1462933"/>
            <a:ext cx="5475897" cy="4565070"/>
            <a:chOff x="3496924" y="1462933"/>
            <a:chExt cx="5475897" cy="456507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3409" y="1462933"/>
              <a:ext cx="5199412" cy="4565070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 rot="1078701">
              <a:off x="5482612" y="2562903"/>
              <a:ext cx="27294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FF0000"/>
                  </a:solidFill>
                  <a:latin typeface="Arial Black" panose="020B0A04020102020204" pitchFamily="34" charset="0"/>
                </a:defRPr>
              </a:lvl1pPr>
            </a:lstStyle>
            <a:p>
              <a:r>
                <a:rPr lang="en-US" dirty="0"/>
                <a:t>Soft X-ray Free Electron Laser</a:t>
              </a:r>
              <a:endParaRPr 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 rot="19556272">
              <a:off x="3496924" y="2069241"/>
              <a:ext cx="28858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Hard X-ray Free Electron Laser</a:t>
              </a:r>
              <a:endParaRPr lang="en-US" sz="12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 rot="1078701">
              <a:off x="5809833" y="3334904"/>
              <a:ext cx="27294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rgbClr val="FF0000"/>
                  </a:solidFill>
                  <a:latin typeface="Arial Black" panose="020B0A04020102020204" pitchFamily="34" charset="0"/>
                </a:defRPr>
              </a:lvl1pPr>
            </a:lstStyle>
            <a:p>
              <a:pPr algn="ctr"/>
              <a:r>
                <a:rPr lang="en-US" dirty="0"/>
                <a:t>SSRF</a:t>
              </a:r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09"/>
    </mc:Choice>
    <mc:Fallback>
      <p:transition spd="slow" advTm="1770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232" y="3429000"/>
            <a:ext cx="4531660" cy="3006832"/>
          </a:xfrm>
          <a:prstGeom prst="rect">
            <a:avLst/>
          </a:prstGeom>
        </p:spPr>
      </p:pic>
      <p:pic>
        <p:nvPicPr>
          <p:cNvPr id="4" name="图片 3" descr="location.jpg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76" y="3429000"/>
            <a:ext cx="3731736" cy="300806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71739" y="951261"/>
            <a:ext cx="7418083" cy="212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NFPS passed the National Acceptance Review, and formally opened to the users in July 2015.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i="0" dirty="0">
                <a:effectLst/>
                <a:latin typeface="Arial" panose="020B0604020202090204" pitchFamily="34" charset="0"/>
                <a:cs typeface="Arial" panose="020B0604020202090204" pitchFamily="34" charset="0"/>
              </a:rPr>
              <a:t>NFPS is composed of 9 technology systems with state-of-the-art instruments in its </a:t>
            </a:r>
            <a:r>
              <a:rPr lang="en-US" altLang="zh-CN" i="0" dirty="0" err="1">
                <a:effectLst/>
                <a:latin typeface="Arial" panose="020B0604020202090204" pitchFamily="34" charset="0"/>
                <a:cs typeface="Arial" panose="020B0604020202090204" pitchFamily="34" charset="0"/>
              </a:rPr>
              <a:t>Haike</a:t>
            </a:r>
            <a:r>
              <a:rPr lang="en-US" altLang="zh-CN" i="0" dirty="0">
                <a:effectLst/>
                <a:latin typeface="Arial" panose="020B0604020202090204" pitchFamily="34" charset="0"/>
                <a:cs typeface="Arial" panose="020B0604020202090204" pitchFamily="34" charset="0"/>
              </a:rPr>
              <a:t> Road Campus and 5 Beamlines within the Shanghai Synchrotron Radiation Facility.</a:t>
            </a:r>
            <a:endParaRPr 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National Facility for Protein Science . Shanghai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83"/>
    </mc:Choice>
    <mc:Fallback>
      <p:transition spd="slow" advTm="2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65423" y="1912357"/>
            <a:ext cx="677108" cy="36942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vert="eaVert" wrap="none" rtlCol="0">
            <a:spAutoFit/>
          </a:bodyPr>
          <a:lstStyle/>
          <a:p>
            <a:r>
              <a:rPr lang="en-US" altLang="zh-CN" sz="3200" dirty="0">
                <a:latin typeface="Arial Black" panose="020B0A04020102020204" pitchFamily="34" charset="0"/>
              </a:rPr>
              <a:t>6 MX Beamlines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12" name="直接连接符 11"/>
          <p:cNvCxnSpPr>
            <a:stCxn id="7" idx="3"/>
            <a:endCxn id="13" idx="1"/>
          </p:cNvCxnSpPr>
          <p:nvPr/>
        </p:nvCxnSpPr>
        <p:spPr>
          <a:xfrm flipV="1">
            <a:off x="1442531" y="1833862"/>
            <a:ext cx="1246259" cy="1925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688790" y="1572252"/>
            <a:ext cx="1459054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BL17B</a:t>
            </a:r>
            <a:endParaRPr lang="en-US" altLang="zh-C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58947" y="2273464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BL18U1</a:t>
            </a:r>
            <a:endParaRPr lang="en-US" altLang="zh-C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58947" y="3000913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BL19U1</a:t>
            </a:r>
            <a:endParaRPr lang="en-US" altLang="zh-C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58947" y="3974942"/>
            <a:ext cx="1818126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latin typeface="Arial Black" panose="020B0A04020102020204" pitchFamily="34" charset="0"/>
              </a:rPr>
              <a:t>BL17UM</a:t>
            </a:r>
            <a:endParaRPr lang="en-US" altLang="zh-CN" sz="2800" dirty="0">
              <a:latin typeface="Arial Black" panose="020B0A040201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08641" y="4872484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BL02U1</a:t>
            </a:r>
            <a:endParaRPr lang="en-US" altLang="zh-CN" sz="28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08641" y="5703088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BL10U1</a:t>
            </a:r>
            <a:endParaRPr lang="en-US" altLang="zh-CN" sz="28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3" name="直接连接符 22"/>
          <p:cNvCxnSpPr>
            <a:stCxn id="7" idx="3"/>
            <a:endCxn id="17" idx="1"/>
          </p:cNvCxnSpPr>
          <p:nvPr/>
        </p:nvCxnSpPr>
        <p:spPr>
          <a:xfrm flipV="1">
            <a:off x="1442531" y="2535074"/>
            <a:ext cx="1116416" cy="1224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7" idx="3"/>
            <a:endCxn id="18" idx="1"/>
          </p:cNvCxnSpPr>
          <p:nvPr/>
        </p:nvCxnSpPr>
        <p:spPr>
          <a:xfrm flipV="1">
            <a:off x="1442531" y="3262523"/>
            <a:ext cx="1116416" cy="496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7" idx="3"/>
            <a:endCxn id="19" idx="1"/>
          </p:cNvCxnSpPr>
          <p:nvPr/>
        </p:nvCxnSpPr>
        <p:spPr>
          <a:xfrm>
            <a:off x="1442531" y="3759498"/>
            <a:ext cx="1116416" cy="47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7" idx="3"/>
            <a:endCxn id="21" idx="1"/>
          </p:cNvCxnSpPr>
          <p:nvPr/>
        </p:nvCxnSpPr>
        <p:spPr>
          <a:xfrm>
            <a:off x="1442531" y="3759498"/>
            <a:ext cx="1166110" cy="1374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7" idx="3"/>
            <a:endCxn id="22" idx="1"/>
          </p:cNvCxnSpPr>
          <p:nvPr/>
        </p:nvCxnSpPr>
        <p:spPr>
          <a:xfrm>
            <a:off x="1442531" y="3759498"/>
            <a:ext cx="1166110" cy="220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141329" y="2273464"/>
            <a:ext cx="1502334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Arial Black" panose="020B0A04020102020204" pitchFamily="34" charset="0"/>
              </a:defRPr>
            </a:lvl1pPr>
          </a:lstStyle>
          <a:p>
            <a:r>
              <a:rPr lang="en-US" altLang="zh-CN" dirty="0"/>
              <a:t>NFPSS</a:t>
            </a:r>
            <a:endParaRPr lang="zh-CN" altLang="en-US" dirty="0"/>
          </a:p>
        </p:txBody>
      </p:sp>
      <p:cxnSp>
        <p:nvCxnSpPr>
          <p:cNvPr id="40" name="直接连接符 39"/>
          <p:cNvCxnSpPr>
            <a:stCxn id="13" idx="3"/>
            <a:endCxn id="38" idx="1"/>
          </p:cNvCxnSpPr>
          <p:nvPr/>
        </p:nvCxnSpPr>
        <p:spPr>
          <a:xfrm>
            <a:off x="4147844" y="1833862"/>
            <a:ext cx="993485" cy="701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17" idx="3"/>
            <a:endCxn id="38" idx="1"/>
          </p:cNvCxnSpPr>
          <p:nvPr/>
        </p:nvCxnSpPr>
        <p:spPr>
          <a:xfrm>
            <a:off x="4277687" y="2535074"/>
            <a:ext cx="8636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18" idx="3"/>
            <a:endCxn id="38" idx="1"/>
          </p:cNvCxnSpPr>
          <p:nvPr/>
        </p:nvCxnSpPr>
        <p:spPr>
          <a:xfrm flipV="1">
            <a:off x="4277687" y="2535074"/>
            <a:ext cx="863642" cy="727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4842699" y="3759498"/>
            <a:ext cx="2099593" cy="95410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Arial Black" panose="020B0A04020102020204" pitchFamily="34" charset="0"/>
              </a:defRPr>
            </a:lvl1pPr>
          </a:lstStyle>
          <a:p>
            <a:r>
              <a:rPr lang="en-US" altLang="zh-CN" dirty="0"/>
              <a:t>Shanghai Tech</a:t>
            </a:r>
            <a:endParaRPr lang="zh-CN" altLang="en-US" dirty="0"/>
          </a:p>
        </p:txBody>
      </p:sp>
      <p:cxnSp>
        <p:nvCxnSpPr>
          <p:cNvPr id="50" name="直接连接符 49"/>
          <p:cNvCxnSpPr>
            <a:stCxn id="19" idx="3"/>
            <a:endCxn id="48" idx="1"/>
          </p:cNvCxnSpPr>
          <p:nvPr/>
        </p:nvCxnSpPr>
        <p:spPr>
          <a:xfrm>
            <a:off x="4377073" y="4236552"/>
            <a:ext cx="465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820910" y="5126983"/>
            <a:ext cx="2099593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Arial Black" panose="020B0A04020102020204" pitchFamily="34" charset="0"/>
              </a:defRPr>
            </a:lvl1pPr>
          </a:lstStyle>
          <a:p>
            <a:r>
              <a:rPr lang="en-US" altLang="zh-CN" dirty="0">
                <a:solidFill>
                  <a:srgbClr val="002060"/>
                </a:solidFill>
              </a:rPr>
              <a:t>SSRF</a:t>
            </a:r>
            <a:endParaRPr lang="zh-CN" altLang="en-US" dirty="0">
              <a:solidFill>
                <a:srgbClr val="002060"/>
              </a:solidFill>
            </a:endParaRPr>
          </a:p>
        </p:txBody>
      </p:sp>
      <p:cxnSp>
        <p:nvCxnSpPr>
          <p:cNvPr id="54" name="直接连接符 53"/>
          <p:cNvCxnSpPr>
            <a:stCxn id="21" idx="3"/>
            <a:endCxn id="52" idx="1"/>
          </p:cNvCxnSpPr>
          <p:nvPr/>
        </p:nvCxnSpPr>
        <p:spPr>
          <a:xfrm>
            <a:off x="4327381" y="5134094"/>
            <a:ext cx="493529" cy="254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22" idx="3"/>
            <a:endCxn id="52" idx="1"/>
          </p:cNvCxnSpPr>
          <p:nvPr/>
        </p:nvCxnSpPr>
        <p:spPr>
          <a:xfrm flipV="1">
            <a:off x="4327381" y="5388593"/>
            <a:ext cx="493529" cy="576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7699004" y="2299246"/>
            <a:ext cx="677108" cy="192655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vert="eaVert" wrap="none" rtlCol="0">
            <a:spAutoFit/>
          </a:bodyPr>
          <a:lstStyle/>
          <a:p>
            <a:r>
              <a:rPr lang="en-US" altLang="zh-CN" sz="3200" dirty="0" err="1">
                <a:latin typeface="Arial Black" panose="020B0A04020102020204" pitchFamily="34" charset="0"/>
              </a:rPr>
              <a:t>MXCube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65" name="直接连接符 64"/>
          <p:cNvCxnSpPr>
            <a:stCxn id="38" idx="3"/>
            <a:endCxn id="63" idx="1"/>
          </p:cNvCxnSpPr>
          <p:nvPr/>
        </p:nvCxnSpPr>
        <p:spPr>
          <a:xfrm>
            <a:off x="6643663" y="2535074"/>
            <a:ext cx="1055341" cy="727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48" idx="3"/>
            <a:endCxn id="63" idx="1"/>
          </p:cNvCxnSpPr>
          <p:nvPr/>
        </p:nvCxnSpPr>
        <p:spPr>
          <a:xfrm flipV="1">
            <a:off x="6942292" y="3262523"/>
            <a:ext cx="756712" cy="974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MX Beamlines at SSRF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83"/>
    </mc:Choice>
    <mc:Fallback>
      <p:transition spd="slow" advTm="2678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53086" y="2210248"/>
            <a:ext cx="7237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i="0" dirty="0" err="1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MXCuBE</a:t>
            </a:r>
            <a:r>
              <a:rPr lang="en-US" altLang="zh-CN" sz="54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 Status</a:t>
            </a:r>
            <a:endParaRPr lang="en-US" altLang="zh-CN" sz="54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26809" y="3648778"/>
            <a:ext cx="5690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005088"/>
                </a:solidFill>
                <a:effectLst/>
                <a:latin typeface="DM Sans"/>
              </a:rPr>
              <a:t>Implementation &amp; Hardware Control</a:t>
            </a:r>
            <a:endParaRPr lang="zh-CN" altLang="en-US" sz="28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3756074" y="3404381"/>
            <a:ext cx="102694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89940" y="1858493"/>
          <a:ext cx="8964295" cy="4111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030"/>
                <a:gridCol w="2241030"/>
                <a:gridCol w="2241030"/>
                <a:gridCol w="2241030"/>
              </a:tblGrid>
              <a:tr h="6976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Beamline</a:t>
                      </a:r>
                      <a:endParaRPr lang="en-US" altLang="zh-CN" sz="2000" b="0" i="0" kern="1200" dirty="0">
                        <a:solidFill>
                          <a:schemeClr val="lt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 err="1">
                          <a:solidFill>
                            <a:schemeClr val="lt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MXCuBE</a:t>
                      </a: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-Core Version</a:t>
                      </a:r>
                      <a:endParaRPr lang="en-US" altLang="zh-CN" sz="2000" b="0" i="0" kern="1200" dirty="0">
                        <a:solidFill>
                          <a:schemeClr val="lt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Control Interface</a:t>
                      </a:r>
                      <a:endParaRPr lang="en-US" altLang="zh-CN" sz="2000" b="0" i="0" kern="1200" dirty="0">
                        <a:solidFill>
                          <a:schemeClr val="lt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Hardware </a:t>
                      </a:r>
                      <a:endParaRPr lang="en-US" altLang="zh-CN" sz="2000" b="0" i="0" kern="1200" dirty="0">
                        <a:solidFill>
                          <a:schemeClr val="lt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895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BL17B</a:t>
                      </a:r>
                      <a:endParaRPr lang="en-US" altLang="zh-CN" sz="20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Version 2022.2.23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Socket /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EPICS/ 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Exporter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 MD2，Pilatus 2M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6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rgbClr val="1E293B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BL18U1</a:t>
                      </a:r>
                      <a:endParaRPr lang="en-US" sz="2000" b="0" dirty="0">
                        <a:solidFill>
                          <a:srgbClr val="1E293B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90500" marR="190500" marT="171450" marB="17145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rgbClr val="1E293B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Version 2023.4.9</a:t>
                      </a:r>
                      <a:endParaRPr lang="en-US" sz="2000" b="0" dirty="0">
                        <a:solidFill>
                          <a:srgbClr val="1E293B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90500" marR="190500" marT="171450" marB="17145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 marL="190500" marR="190500" marT="171450" marB="17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rgbClr val="1E293B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Pilatus 6M, MD2，Rigaku sample changer </a:t>
                      </a:r>
                      <a:endParaRPr lang="en-US" sz="2000" b="0" dirty="0">
                        <a:solidFill>
                          <a:srgbClr val="1E293B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90500" marR="190500" marT="171450" marB="17145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46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rgbClr val="1E293B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BL19U1</a:t>
                      </a:r>
                      <a:endParaRPr lang="en-US" sz="2000" b="0" dirty="0">
                        <a:solidFill>
                          <a:srgbClr val="1E293B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90500" marR="190500" marT="171450" marB="17145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rgbClr val="1E293B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</a:rPr>
                        <a:t>Version 2023.4.9</a:t>
                      </a:r>
                      <a:endParaRPr lang="en-US" sz="2000" b="0" dirty="0">
                        <a:solidFill>
                          <a:srgbClr val="1E293B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190500" marR="190500" marT="171450" marB="17145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 marL="190500" marR="190500" marT="171450" marB="17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dirty="0">
                          <a:solidFill>
                            <a:srgbClr val="1E293B"/>
                          </a:solidFill>
                          <a:effectLst/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Pilatus 6M, MD2S，FLEX sample changer</a:t>
                      </a:r>
                      <a:endParaRPr lang="en-US" sz="2000" b="0" dirty="0">
                        <a:solidFill>
                          <a:srgbClr val="1E293B"/>
                        </a:solidFill>
                        <a:effectLst/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marL="190500" marR="190500" marT="171450" marB="17145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System Versioning &amp; Controls</a:t>
            </a:r>
            <a:endParaRPr lang="en-US" altLang="zh-CN" sz="28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27"/>
    </mc:Choice>
    <mc:Fallback>
      <p:transition spd="slow" advTm="2342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1057275"/>
            <a:ext cx="7886700" cy="1363980"/>
          </a:xfrm>
          <a:solidFill>
            <a:schemeClr val="bg1">
              <a:lumMod val="95000"/>
            </a:schemeClr>
          </a:solidFill>
        </p:spPr>
        <p:txBody>
          <a:bodyPr>
            <a:normAutofit lnSpcReduction="20000"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Integrate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Flex sample changer 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into </a:t>
            </a:r>
            <a:r>
              <a:rPr lang="en-US" altLang="zh-CN" sz="1800" b="1" dirty="0" err="1">
                <a:latin typeface="Times New Roman" panose="02020503050405090304" charset="0"/>
                <a:cs typeface="Times New Roman" panose="02020503050405090304" charset="0"/>
              </a:rPr>
              <a:t>MXCuBe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 by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Exporter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  <a:endParaRPr lang="en-US" altLang="zh-CN" sz="18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Integrate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Pilatus 6M 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detector into </a:t>
            </a:r>
            <a:r>
              <a:rPr lang="en-US" altLang="zh-CN" sz="1800" b="1" dirty="0" err="1">
                <a:latin typeface="Times New Roman" panose="02020503050405090304" charset="0"/>
                <a:cs typeface="Times New Roman" panose="02020503050405090304" charset="0"/>
              </a:rPr>
              <a:t>MXCuBe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 by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EPICS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  <a:endParaRPr lang="en-US" altLang="zh-CN" sz="18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Integrate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MD2S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 into </a:t>
            </a:r>
            <a:r>
              <a:rPr lang="en-US" altLang="zh-CN" sz="1800" b="1" dirty="0" err="1">
                <a:latin typeface="Times New Roman" panose="02020503050405090304" charset="0"/>
                <a:cs typeface="Times New Roman" panose="02020503050405090304" charset="0"/>
              </a:rPr>
              <a:t>MXCuBE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 by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Exporter and Tango（camera）</a:t>
            </a:r>
            <a:r>
              <a:rPr lang="en-US" altLang="zh-CN" sz="18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  <a:endParaRPr lang="zh-CN" altLang="en-US" sz="1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图片 3" descr="图形用户界面&#10;&#10;描述已自动生成"/>
          <p:cNvPicPr>
            <a:picLocks noChangeAspect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815" y="3199860"/>
            <a:ext cx="3412825" cy="222826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41243" y="2960710"/>
            <a:ext cx="5285370" cy="2507719"/>
            <a:chOff x="895700" y="1128932"/>
            <a:chExt cx="7502718" cy="2843142"/>
          </a:xfrm>
        </p:grpSpPr>
        <p:grpSp>
          <p:nvGrpSpPr>
            <p:cNvPr id="7" name="组合 6"/>
            <p:cNvGrpSpPr/>
            <p:nvPr/>
          </p:nvGrpSpPr>
          <p:grpSpPr>
            <a:xfrm>
              <a:off x="895700" y="1128932"/>
              <a:ext cx="7502718" cy="2843142"/>
              <a:chOff x="895700" y="1128932"/>
              <a:chExt cx="7502718" cy="2843142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636660" y="1128932"/>
                <a:ext cx="1744393" cy="5169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MXCuBE3</a:t>
                </a:r>
                <a:endParaRPr lang="zh-CN" altLang="en-US" sz="1100" dirty="0"/>
              </a:p>
            </p:txBody>
          </p:sp>
          <p:cxnSp>
            <p:nvCxnSpPr>
              <p:cNvPr id="10" name="直接箭头连接符 9"/>
              <p:cNvCxnSpPr>
                <a:stCxn id="9" idx="2"/>
                <a:endCxn id="13" idx="0"/>
              </p:cNvCxnSpPr>
              <p:nvPr/>
            </p:nvCxnSpPr>
            <p:spPr>
              <a:xfrm flipH="1">
                <a:off x="1737365" y="1387426"/>
                <a:ext cx="1899295" cy="8704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>
                <a:stCxn id="9" idx="3"/>
                <a:endCxn id="14" idx="0"/>
              </p:cNvCxnSpPr>
              <p:nvPr/>
            </p:nvCxnSpPr>
            <p:spPr>
              <a:xfrm flipH="1">
                <a:off x="3669428" y="1570209"/>
                <a:ext cx="222692" cy="6876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>
                <a:stCxn id="9" idx="5"/>
                <a:endCxn id="15" idx="0"/>
              </p:cNvCxnSpPr>
              <p:nvPr/>
            </p:nvCxnSpPr>
            <p:spPr>
              <a:xfrm>
                <a:off x="5125593" y="1570209"/>
                <a:ext cx="473349" cy="6876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 12"/>
              <p:cNvSpPr/>
              <p:nvPr/>
            </p:nvSpPr>
            <p:spPr>
              <a:xfrm>
                <a:off x="895701" y="2257864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Exporter</a:t>
                </a:r>
                <a:endParaRPr lang="zh-CN" altLang="en-US" sz="1100" dirty="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827764" y="2257865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Exporter and Tango</a:t>
                </a:r>
                <a:endParaRPr lang="zh-CN" altLang="en-US" sz="1100" dirty="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4757278" y="2257865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EPCIS</a:t>
                </a:r>
                <a:endParaRPr lang="zh-CN" altLang="en-US" sz="1100" dirty="0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686792" y="2256009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EPICS</a:t>
                </a:r>
                <a:endParaRPr lang="zh-CN" altLang="en-US" sz="1100" dirty="0"/>
              </a:p>
            </p:txBody>
          </p:sp>
          <p:cxnSp>
            <p:nvCxnSpPr>
              <p:cNvPr id="17" name="直接箭头连接符 16"/>
              <p:cNvCxnSpPr>
                <a:endCxn id="16" idx="0"/>
              </p:cNvCxnSpPr>
              <p:nvPr/>
            </p:nvCxnSpPr>
            <p:spPr>
              <a:xfrm>
                <a:off x="5381053" y="1387426"/>
                <a:ext cx="2147403" cy="8685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/>
              <p:cNvSpPr/>
              <p:nvPr/>
            </p:nvSpPr>
            <p:spPr>
              <a:xfrm>
                <a:off x="895700" y="3432323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FLEX Sample Changer</a:t>
                </a:r>
                <a:endParaRPr lang="zh-CN" altLang="en-US" sz="1100" dirty="0"/>
              </a:p>
            </p:txBody>
          </p:sp>
          <p:cxnSp>
            <p:nvCxnSpPr>
              <p:cNvPr id="19" name="直接箭头连接符 18"/>
              <p:cNvCxnSpPr>
                <a:stCxn id="13" idx="2"/>
                <a:endCxn id="18" idx="0"/>
              </p:cNvCxnSpPr>
              <p:nvPr/>
            </p:nvCxnSpPr>
            <p:spPr>
              <a:xfrm flipH="1">
                <a:off x="1737364" y="2797615"/>
                <a:ext cx="1" cy="6347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/>
              <p:cNvSpPr/>
              <p:nvPr/>
            </p:nvSpPr>
            <p:spPr>
              <a:xfrm>
                <a:off x="2827763" y="3429000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MD2S</a:t>
                </a:r>
                <a:endParaRPr lang="zh-CN" altLang="en-US" sz="1100" dirty="0"/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 flipH="1">
                <a:off x="3666878" y="2774853"/>
                <a:ext cx="1" cy="6347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矩形 21"/>
              <p:cNvSpPr/>
              <p:nvPr/>
            </p:nvSpPr>
            <p:spPr>
              <a:xfrm>
                <a:off x="4771427" y="3428999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Pilatus 6M Detector</a:t>
                </a:r>
                <a:endParaRPr lang="zh-CN" altLang="en-US" sz="1100" dirty="0"/>
              </a:p>
            </p:txBody>
          </p:sp>
          <p:cxnSp>
            <p:nvCxnSpPr>
              <p:cNvPr id="23" name="直接箭头连接符 22"/>
              <p:cNvCxnSpPr/>
              <p:nvPr/>
            </p:nvCxnSpPr>
            <p:spPr>
              <a:xfrm flipH="1">
                <a:off x="5613090" y="2774853"/>
                <a:ext cx="1" cy="6347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矩形 23"/>
              <p:cNvSpPr/>
              <p:nvPr/>
            </p:nvSpPr>
            <p:spPr>
              <a:xfrm>
                <a:off x="6715091" y="3428999"/>
                <a:ext cx="1683327" cy="53975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/>
                  <a:t>Monochromator/Support table </a:t>
                </a:r>
                <a:endParaRPr lang="zh-CN" altLang="en-US" sz="1100" dirty="0"/>
              </a:p>
            </p:txBody>
          </p:sp>
        </p:grpSp>
        <p:cxnSp>
          <p:nvCxnSpPr>
            <p:cNvPr id="8" name="直接箭头连接符 7"/>
            <p:cNvCxnSpPr/>
            <p:nvPr/>
          </p:nvCxnSpPr>
          <p:spPr>
            <a:xfrm flipH="1">
              <a:off x="7528455" y="2774853"/>
              <a:ext cx="1" cy="63470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24"/>
          <p:cNvSpPr txBox="1"/>
          <p:nvPr/>
        </p:nvSpPr>
        <p:spPr>
          <a:xfrm>
            <a:off x="5691916" y="5590173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Detector EPICS Control Interface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996490" y="5590173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Integrated Control Systems</a:t>
            </a:r>
            <a:endParaRPr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Hardware Interface Control System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27"/>
    </mc:Choice>
    <mc:Fallback>
      <p:transition spd="slow" advTm="2342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53086" y="2551837"/>
            <a:ext cx="72378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i="0" dirty="0">
                <a:solidFill>
                  <a:srgbClr val="005088"/>
                </a:solidFill>
                <a:effectLst/>
                <a:latin typeface="Merriweather" panose="020B0604020202020204" pitchFamily="2" charset="0"/>
              </a:rPr>
              <a:t>Developments since last meeting</a:t>
            </a:r>
            <a:endParaRPr lang="en-US" altLang="zh-CN" sz="5400" b="1" i="0" dirty="0">
              <a:solidFill>
                <a:srgbClr val="005088"/>
              </a:solidFill>
              <a:effectLst/>
              <a:latin typeface="Merriweather" panose="020B06040202020202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Raster scan feature configuration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702" y="2776165"/>
            <a:ext cx="3040997" cy="223786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70510" y="1281430"/>
            <a:ext cx="5162550" cy="5227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err="1"/>
              <a:t>Done</a:t>
            </a:r>
            <a:r>
              <a:rPr lang="en-US" altLang="zh-CN" dirty="0" err="1"/>
              <a:t>:Currently</a:t>
            </a:r>
            <a:r>
              <a:rPr lang="en-US" altLang="zh-CN" dirty="0"/>
              <a:t>, our raster scan executes correctly, and DOZOR successfully calculates the diffraction scores. 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Issue</a:t>
            </a:r>
            <a:r>
              <a:rPr lang="en-US" altLang="zh-CN" dirty="0"/>
              <a:t>: the web frontend isn't displaying these scores at all; the UI remains unchanged. 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 err="1"/>
              <a:t>Question</a:t>
            </a:r>
            <a:r>
              <a:rPr lang="en-US" altLang="zh-CN" dirty="0" err="1"/>
              <a:t>: </a:t>
            </a:r>
            <a:r>
              <a:rPr lang="en-US" altLang="zh-CN" dirty="0"/>
              <a:t>where this breakdown usually happens—is it typically an issue with the script parsing and uploading DOZOR results to the </a:t>
            </a:r>
            <a:r>
              <a:rPr lang="en-US" altLang="zh-CN" dirty="0" err="1"/>
              <a:t>ISPyB</a:t>
            </a:r>
            <a:r>
              <a:rPr lang="en-US" altLang="zh-CN" dirty="0"/>
              <a:t> database, or is it a missing endpoint configuration on the web frontend?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  <a:p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Cybersecurity &amp; Data Isolation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  <a:p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371475" y="948690"/>
            <a:ext cx="8322310" cy="187134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503050405090304" charset="0"/>
                <a:cs typeface="Times New Roman" panose="02020503050405090304" charset="0"/>
              </a:rPr>
              <a:t>Strict project-based accounts ensuring users only access their own diffraction data. Servers operate primarily on internal networks with regular secure backups.</a:t>
            </a:r>
            <a:endParaRPr lang="en-US" altLang="zh-CN" sz="24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2938780"/>
            <a:ext cx="8334375" cy="3538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err="1">
                <a:solidFill>
                  <a:srgbClr val="005088"/>
                </a:solidFill>
                <a:latin typeface="Merriweather" panose="020B0604020202020204" pitchFamily="2" charset="0"/>
              </a:rPr>
              <a:t>ISPyB</a:t>
            </a:r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 and EDNA2 integration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371475" y="949325"/>
            <a:ext cx="8439785" cy="192151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900" dirty="0" err="1">
                <a:latin typeface="Times New Roman" panose="02020503050405090304" charset="0"/>
                <a:cs typeface="Times New Roman" panose="02020503050405090304" charset="0"/>
              </a:rPr>
              <a:t>ISPyB: Achieve</a:t>
            </a:r>
            <a:r>
              <a:rPr lang="en-US" altLang="zh-CN" sz="1900" dirty="0">
                <a:latin typeface="Times New Roman" panose="02020503050405090304" charset="0"/>
                <a:cs typeface="Times New Roman" panose="02020503050405090304" charset="0"/>
              </a:rPr>
              <a:t> deep synchronization between experimental data and samples, ensuring automated workflows for storage and retrieval.</a:t>
            </a:r>
            <a:endParaRPr lang="en-US" altLang="zh-CN" sz="1900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900" dirty="0">
                <a:latin typeface="Times New Roman" panose="02020503050405090304" charset="0"/>
                <a:cs typeface="Times New Roman" panose="02020503050405090304" charset="0"/>
              </a:rPr>
              <a:t>EDNA2: Integrate an automated data analysis framework to enhance the accuracy of sample characterization and strategy calculation.</a:t>
            </a:r>
            <a:endParaRPr lang="en-US" altLang="zh-CN" sz="19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1475" y="2949575"/>
            <a:ext cx="8408670" cy="3758565"/>
            <a:chOff x="632" y="3576"/>
            <a:chExt cx="13242" cy="6155"/>
          </a:xfrm>
        </p:grpSpPr>
        <p:pic>
          <p:nvPicPr>
            <p:cNvPr id="14" name="图片 1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632" y="3576"/>
              <a:ext cx="13243" cy="393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32" y="6813"/>
              <a:ext cx="13243" cy="2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53086" y="2551837"/>
            <a:ext cx="72378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005088"/>
                </a:solidFill>
                <a:latin typeface="Merriweather" panose="020B0604020202020204" pitchFamily="2" charset="0"/>
              </a:rPr>
              <a:t>Plan the next work</a:t>
            </a:r>
            <a:endParaRPr lang="en-US" altLang="zh-CN" sz="54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270553" y="81031"/>
            <a:ext cx="8985989" cy="868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err="1">
                <a:solidFill>
                  <a:srgbClr val="005088"/>
                </a:solidFill>
                <a:latin typeface="Merriweather" panose="020B0604020202020204" pitchFamily="2" charset="0"/>
              </a:rPr>
              <a:t>Impementaion</a:t>
            </a:r>
            <a:r>
              <a:rPr lang="en-US" altLang="zh-CN" sz="2800" b="1" dirty="0">
                <a:solidFill>
                  <a:srgbClr val="005088"/>
                </a:solidFill>
                <a:latin typeface="Merriweather" panose="020B0604020202020204" pitchFamily="2" charset="0"/>
              </a:rPr>
              <a:t> Timeline</a:t>
            </a:r>
            <a:endParaRPr lang="en-US" altLang="zh-CN" sz="2800" b="1" dirty="0">
              <a:solidFill>
                <a:srgbClr val="005088"/>
              </a:solidFill>
              <a:latin typeface="Merriweather" panose="020B0604020202020204" pitchFamily="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371739" y="829997"/>
            <a:ext cx="86010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296204" y="1940867"/>
            <a:ext cx="8752548" cy="2866939"/>
            <a:chOff x="296204" y="1940867"/>
            <a:chExt cx="8752548" cy="2866939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296204" y="3438525"/>
              <a:ext cx="8752548" cy="0"/>
            </a:xfrm>
            <a:prstGeom prst="line">
              <a:avLst/>
            </a:prstGeom>
            <a:ln w="38100"/>
            <a:effectLst>
              <a:glow rad="1016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148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204" y="3500860"/>
              <a:ext cx="3314700" cy="1266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8572" y="1940867"/>
              <a:ext cx="3314700" cy="1266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2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4052" y="3540981"/>
              <a:ext cx="3314700" cy="1266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文本框 18"/>
            <p:cNvSpPr txBox="1"/>
            <p:nvPr/>
          </p:nvSpPr>
          <p:spPr>
            <a:xfrm>
              <a:off x="1105565" y="3039195"/>
              <a:ext cx="12858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i="0" u="none" strike="noStrike" dirty="0">
                  <a:solidFill>
                    <a:srgbClr val="BEF264"/>
                  </a:solidFill>
                  <a:effectLst/>
                  <a:latin typeface="Urbanist"/>
                </a:rPr>
                <a:t>Q3 2026</a:t>
              </a:r>
              <a:endParaRPr lang="en-US" altLang="zh-CN" b="0" dirty="0">
                <a:effectLst/>
              </a:endParaRPr>
            </a:p>
            <a:p>
              <a:br>
                <a:rPr lang="en-US" altLang="zh-CN" dirty="0"/>
              </a:br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981717" y="3540981"/>
              <a:ext cx="12858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i="0" u="none" strike="noStrike" dirty="0">
                  <a:solidFill>
                    <a:srgbClr val="BEF264"/>
                  </a:solidFill>
                  <a:effectLst/>
                  <a:latin typeface="Urbanist"/>
                </a:rPr>
                <a:t>Q4 2026</a:t>
              </a:r>
              <a:endParaRPr lang="en-US" altLang="zh-CN" b="0" dirty="0">
                <a:effectLst/>
              </a:endParaRPr>
            </a:p>
            <a:p>
              <a:br>
                <a:rPr lang="en-US" altLang="zh-CN" dirty="0"/>
              </a:b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857659" y="3062277"/>
              <a:ext cx="1898015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b="1" dirty="0">
                  <a:solidFill>
                    <a:srgbClr val="BEF264"/>
                  </a:solidFill>
                  <a:latin typeface="Urbanist"/>
                </a:rPr>
                <a:t>2027&amp;Beyond</a:t>
              </a:r>
              <a:br>
                <a:rPr lang="en-US" altLang="zh-CN" dirty="0"/>
              </a:br>
              <a:endParaRPr lang="zh-CN" altLang="en-US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76563" y="1457908"/>
            <a:ext cx="7161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rgbClr val="0070C0"/>
                </a:solidFill>
                <a:latin typeface="Arial Black" panose="020B0A04020102020204" pitchFamily="34" charset="0"/>
              </a:rPr>
              <a:t>Thank you for your attention! </a:t>
            </a:r>
            <a:endParaRPr lang="zh-CN" altLang="en-US" sz="3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2922" y="2451068"/>
            <a:ext cx="510578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Acknowledgments: </a:t>
            </a:r>
            <a:endParaRPr lang="en-US" altLang="zh-CN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Shanghai 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Sychrontron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Radiation Facility 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Mikel 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Eguiraun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and Jie Nan from  MAX IV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Letícia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G. 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Capovilla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from LNLS 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Arinax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 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Dectris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 Rigaku, 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Irelec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MXCube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community. 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903"/>
    </mc:Choice>
    <mc:Fallback>
      <p:transition spd="slow" advTm="15903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2727</Words>
  <Application>WPS 文字</Application>
  <PresentationFormat>全屏显示(4:3)</PresentationFormat>
  <Paragraphs>175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9" baseType="lpstr">
      <vt:lpstr>Arial</vt:lpstr>
      <vt:lpstr>宋体</vt:lpstr>
      <vt:lpstr>Wingdings</vt:lpstr>
      <vt:lpstr>Merriweather</vt:lpstr>
      <vt:lpstr>苹方-简</vt:lpstr>
      <vt:lpstr>DM Sans</vt:lpstr>
      <vt:lpstr>Arial Black</vt:lpstr>
      <vt:lpstr>Times New Roman</vt:lpstr>
      <vt:lpstr>Urbanist</vt:lpstr>
      <vt:lpstr>Thonburi</vt:lpstr>
      <vt:lpstr>微软雅黑</vt:lpstr>
      <vt:lpstr>汉仪旗黑</vt:lpstr>
      <vt:lpstr>等线 Light</vt:lpstr>
      <vt:lpstr>汉仪中等线KW</vt:lpstr>
      <vt:lpstr>等线</vt:lpstr>
      <vt:lpstr>Calibri</vt:lpstr>
      <vt:lpstr>Helvetica Neue</vt:lpstr>
      <vt:lpstr>汉仪书宋二KW</vt:lpstr>
      <vt:lpstr>宋体</vt:lpstr>
      <vt:lpstr>Arial Unicode MS</vt:lpstr>
      <vt:lpstr>DM Sans</vt:lpstr>
      <vt:lpstr>Urbanist</vt:lpstr>
      <vt:lpstr>Wingdings</vt:lpstr>
      <vt:lpstr>Office 主题​​</vt:lpstr>
      <vt:lpstr>PowerPoint 演示文稿</vt:lpstr>
      <vt:lpstr>PowerPoint 演示文稿</vt:lpstr>
      <vt:lpstr>SSRF Storage Ring &amp; Parameters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NFPS MX Beamlines at SSRF</dc:title>
  <dc:creator>NTKO</dc:creator>
  <cp:lastModifiedBy>qin</cp:lastModifiedBy>
  <cp:revision>499</cp:revision>
  <dcterms:created xsi:type="dcterms:W3CDTF">2026-05-20T08:40:25Z</dcterms:created>
  <dcterms:modified xsi:type="dcterms:W3CDTF">2026-05-20T08:40:25Z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4C48CB23B66730B74A460D6AA6DDA607_43</vt:lpwstr>
  </property>
  <property fmtid="{D5CDD505-2E9C-101B-9397-08002B2CF9AE}" pid="3" name="KSOProductBuildVer">
    <vt:lpwstr>2052-12.1.25869.25869</vt:lpwstr>
  </property>
</Properties>
</file>