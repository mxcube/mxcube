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8" r:id="rId4"/>
    <p:sldId id="257" r:id="rId5"/>
    <p:sldId id="715" r:id="rId6"/>
    <p:sldId id="746" r:id="rId7"/>
    <p:sldId id="730" r:id="rId8"/>
    <p:sldId id="731" r:id="rId9"/>
    <p:sldId id="736" r:id="rId10"/>
    <p:sldId id="732" r:id="rId11"/>
    <p:sldId id="733" r:id="rId12"/>
    <p:sldId id="741" r:id="rId13"/>
    <p:sldId id="740" r:id="rId14"/>
    <p:sldId id="743" r:id="rId15"/>
    <p:sldId id="742" r:id="rId16"/>
    <p:sldId id="744" r:id="rId18"/>
    <p:sldId id="745" r:id="rId19"/>
    <p:sldId id="739" r:id="rId20"/>
    <p:sldId id="710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mqin" initials="w" lastIdx="1" clrIdx="0"/>
  <p:cmAuthor id="2" name="NUC" initials="N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546" autoAdjust="0"/>
  </p:normalViewPr>
  <p:slideViewPr>
    <p:cSldViewPr snapToGrid="0">
      <p:cViewPr varScale="1">
        <p:scale>
          <a:sx n="73" d="100"/>
          <a:sy n="73" d="100"/>
        </p:scale>
        <p:origin x="1598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0F4EA-DC3A-40EF-92D0-D08CCCEEB260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9C9EB-CA76-4710-89D9-8F5F4D08B54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C9EB-CA76-4710-89D9-8F5F4D08B54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20DF6-285F-42D4-A0E8-74E4502D8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AC38A-D483-44C1-A644-E841A329FC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jpe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11277" y="3602038"/>
            <a:ext cx="8170607" cy="2346478"/>
          </a:xfrm>
        </p:spPr>
        <p:txBody>
          <a:bodyPr>
            <a:normAutofit fontScale="72500"/>
          </a:bodyPr>
          <a:lstStyle/>
          <a:p>
            <a:r>
              <a:rPr lang="en-US" altLang="zh-CN" sz="2400" dirty="0" err="1">
                <a:latin typeface="Arial Black" panose="020B0A04020102020204" pitchFamily="34" charset="0"/>
                <a:cs typeface="Arial" panose="020B0604020202090204" pitchFamily="34" charset="0"/>
              </a:rPr>
              <a:t>Wenming</a:t>
            </a:r>
            <a:r>
              <a:rPr lang="en-US" altLang="zh-CN" sz="2400" dirty="0">
                <a:latin typeface="Arial Black" panose="020B0A04020102020204" pitchFamily="34" charset="0"/>
                <a:cs typeface="Arial" panose="020B0604020202090204" pitchFamily="34" charset="0"/>
              </a:rPr>
              <a:t> Qin</a:t>
            </a:r>
            <a:endParaRPr lang="en-US" altLang="zh-CN" sz="2400" dirty="0">
              <a:latin typeface="Arial Black" panose="020B0A04020102020204" pitchFamily="34" charset="0"/>
              <a:cs typeface="Arial" panose="020B0604020202090204" pitchFamily="34" charset="0"/>
            </a:endParaRPr>
          </a:p>
          <a:p>
            <a:endParaRPr lang="en-US" altLang="zh-CN" sz="2400" dirty="0">
              <a:latin typeface="Arial Black" panose="020B0A04020102020204" pitchFamily="34" charset="0"/>
              <a:cs typeface="Arial" panose="020B060402020209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altLang="zh-CN" sz="2000" dirty="0">
                <a:latin typeface="Arial Black" panose="020B0A04020102020204" pitchFamily="34" charset="0"/>
                <a:cs typeface="Arial" panose="020B0604020202090204" pitchFamily="34" charset="0"/>
              </a:rPr>
              <a:t>National Facility for Protein Science in Shanghai (NFPSS)</a:t>
            </a:r>
            <a:endParaRPr lang="en-US" altLang="zh-CN" sz="2000" dirty="0">
              <a:latin typeface="Arial Black" panose="020B0A04020102020204" pitchFamily="34" charset="0"/>
              <a:cs typeface="Arial" panose="020B060402020209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altLang="zh-CN" sz="2000" dirty="0">
                <a:latin typeface="Arial Black" panose="020B0A04020102020204" pitchFamily="34" charset="0"/>
                <a:cs typeface="Arial" panose="020B0604020202090204" pitchFamily="34" charset="0"/>
              </a:rPr>
              <a:t>/Shanghai Synchrotron Radiation Facility (SSRF)</a:t>
            </a:r>
            <a:endParaRPr lang="en-US" altLang="zh-CN" sz="2000" dirty="0">
              <a:latin typeface="Arial Black" panose="020B0A04020102020204" pitchFamily="34" charset="0"/>
              <a:cs typeface="Arial" panose="020B0604020202090204" pitchFamily="34" charset="0"/>
            </a:endParaRPr>
          </a:p>
          <a:p>
            <a:endParaRPr lang="en-US" altLang="zh-CN" sz="2000" dirty="0">
              <a:latin typeface="Arial Black" panose="020B0A04020102020204" pitchFamily="34" charset="0"/>
              <a:cs typeface="Arial" panose="020B0604020202090204" pitchFamily="34" charset="0"/>
            </a:endParaRPr>
          </a:p>
          <a:p>
            <a:r>
              <a:rPr lang="en-US" altLang="zh-CN" sz="2000" dirty="0">
                <a:latin typeface="Arial Black" panose="020B0A04020102020204" pitchFamily="34" charset="0"/>
                <a:cs typeface="Arial" panose="020B0604020202090204" pitchFamily="34" charset="0"/>
              </a:rPr>
              <a:t>May, 2025</a:t>
            </a:r>
            <a:endParaRPr lang="zh-CN" altLang="en-US" sz="2000" dirty="0">
              <a:latin typeface="Arial Black" panose="020B0A04020102020204" pitchFamily="34" charset="0"/>
              <a:cs typeface="Arial" panose="020B060402020209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 bwMode="auto">
          <a:xfrm>
            <a:off x="0" y="489367"/>
            <a:ext cx="91440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altLang="zh-CN" dirty="0" err="1">
                <a:cs typeface="Calibri Light" panose="020F0302020204030204" pitchFamily="34" charset="0"/>
              </a:rPr>
              <a:t>MXCuBE</a:t>
            </a:r>
            <a:r>
              <a:rPr lang="en-US" altLang="zh-CN" dirty="0">
                <a:cs typeface="Calibri Light" panose="020F0302020204030204" pitchFamily="34" charset="0"/>
              </a:rPr>
              <a:t> | LIMS</a:t>
            </a:r>
            <a:br>
              <a:rPr lang="en-US" altLang="zh-CN" dirty="0">
                <a:cs typeface="Calibri Light" panose="020F0302020204030204" pitchFamily="34" charset="0"/>
              </a:rPr>
            </a:br>
            <a:r>
              <a:rPr lang="en-US" altLang="zh-CN" dirty="0">
                <a:cs typeface="Calibri Light" panose="020F0302020204030204" pitchFamily="34" charset="0"/>
              </a:rPr>
              <a:t>site report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175"/>
    </mc:Choice>
    <mc:Fallback>
      <p:transition spd="slow" advTm="151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Shanghai Synchrotron Radiation Facility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3409" y="1777684"/>
            <a:ext cx="5199412" cy="4565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39" y="4518931"/>
            <a:ext cx="3295176" cy="182382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71739" y="1777684"/>
            <a:ext cx="3295176" cy="25838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 Black" panose="020B0A04020102020204" pitchFamily="34" charset="0"/>
              </a:rPr>
              <a:t>SSRF Ring Parameters</a:t>
            </a:r>
            <a:endParaRPr lang="en-US" altLang="zh-CN" sz="1600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Electron Energy</a:t>
            </a:r>
            <a:r>
              <a:rPr lang="zh-CN" altLang="en-US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3.5 GeV</a:t>
            </a:r>
            <a:endParaRPr lang="en-US" altLang="zh-CN" sz="16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Electron Current:  300 mA</a:t>
            </a:r>
            <a:endParaRPr lang="en-US" altLang="zh-CN" sz="16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Circumference:     432 m</a:t>
            </a:r>
            <a:endParaRPr lang="en-US" altLang="zh-CN" sz="16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Straight sections:  20</a:t>
            </a:r>
            <a:endParaRPr lang="en-US" altLang="zh-CN" sz="1600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 rot="1078701">
            <a:off x="5482612" y="2877654"/>
            <a:ext cx="2729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Soft X-ray Free Electron Laser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 rot="19556272">
            <a:off x="3496924" y="2383992"/>
            <a:ext cx="2885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 Black" panose="020B0A04020102020204" pitchFamily="34" charset="0"/>
              </a:rPr>
              <a:t>Hard X-ray Free Electron Laser</a:t>
            </a:r>
            <a:endParaRPr lang="en-US" sz="12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 rot="1078701">
            <a:off x="5809833" y="3649655"/>
            <a:ext cx="2729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FF0000"/>
                </a:solidFill>
                <a:latin typeface="Arial Black" panose="020B0A04020102020204" pitchFamily="34" charset="0"/>
              </a:defRPr>
            </a:lvl1pPr>
          </a:lstStyle>
          <a:p>
            <a:pPr algn="ctr"/>
            <a:r>
              <a:rPr lang="en-US" dirty="0"/>
              <a:t>SSRF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09"/>
    </mc:Choice>
    <mc:Fallback>
      <p:transition spd="slow" advTm="1770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268" y="3429000"/>
            <a:ext cx="4531660" cy="3006832"/>
          </a:xfrm>
          <a:prstGeom prst="rect">
            <a:avLst/>
          </a:prstGeom>
        </p:spPr>
      </p:pic>
      <p:pic>
        <p:nvPicPr>
          <p:cNvPr id="4" name="图片 3" descr="location.jpg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994" y="3483651"/>
            <a:ext cx="3731736" cy="3008062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20614" y="233299"/>
            <a:ext cx="8302771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National Facility for Protein Science . Shanghai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2957" y="1109294"/>
            <a:ext cx="7418083" cy="212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NFPS passed the National Acceptance Review, and formally opened to the users in July 2015.</a:t>
            </a:r>
            <a:endParaRPr lang="en-US" altLang="zh-CN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cs typeface="Arial" panose="020B0604020202090204" pitchFamily="34" charset="0"/>
              </a:rPr>
              <a:t>NFPS is composed of 9 technology systems with state-of-the-art instruments in its </a:t>
            </a:r>
            <a:r>
              <a:rPr lang="en-US" altLang="zh-CN" i="0" dirty="0" err="1">
                <a:solidFill>
                  <a:schemeClr val="accent1"/>
                </a:solidFill>
                <a:effectLst/>
                <a:latin typeface="Arial" panose="020B0604020202090204" pitchFamily="34" charset="0"/>
                <a:cs typeface="Arial" panose="020B0604020202090204" pitchFamily="34" charset="0"/>
              </a:rPr>
              <a:t>Haike</a:t>
            </a:r>
            <a:r>
              <a:rPr lang="en-US" altLang="zh-CN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cs typeface="Arial" panose="020B0604020202090204" pitchFamily="34" charset="0"/>
              </a:rPr>
              <a:t> Road Campus and 5 Beamlines within the Shanghai Synchrotron Radiation Facility.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83"/>
    </mc:Choice>
    <mc:Fallback>
      <p:transition spd="slow" advTm="2678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20614" y="233299"/>
            <a:ext cx="8302771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dirty="0">
                <a:latin typeface="Arial Black" panose="020B0A04020102020204" pitchFamily="34" charset="0"/>
              </a:rPr>
              <a:t>MX Beamlines at SSRF</a:t>
            </a:r>
            <a:endParaRPr lang="zh-CN" altLang="en-US" sz="3600" dirty="0">
              <a:latin typeface="Arial Black" panose="020B0A040201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8813" y="1996764"/>
            <a:ext cx="677108" cy="369428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vert="eaVert" wrap="none" rtlCol="0">
            <a:spAutoFit/>
          </a:bodyPr>
          <a:lstStyle/>
          <a:p>
            <a:r>
              <a:rPr lang="en-US" altLang="zh-CN" sz="3200" dirty="0">
                <a:latin typeface="Arial Black" panose="020B0A04020102020204" pitchFamily="34" charset="0"/>
              </a:rPr>
              <a:t>6 MX Beamlines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12" name="直接连接符 11"/>
          <p:cNvCxnSpPr>
            <a:stCxn id="7" idx="3"/>
            <a:endCxn id="13" idx="1"/>
          </p:cNvCxnSpPr>
          <p:nvPr/>
        </p:nvCxnSpPr>
        <p:spPr>
          <a:xfrm flipV="1">
            <a:off x="1315921" y="1918269"/>
            <a:ext cx="1246259" cy="1925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562180" y="1656659"/>
            <a:ext cx="1459054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BL17B</a:t>
            </a:r>
            <a:endParaRPr lang="en-US" altLang="zh-CN" sz="2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432337" y="2357871"/>
            <a:ext cx="1718740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BL18U1</a:t>
            </a:r>
            <a:endParaRPr lang="en-US" altLang="zh-CN" sz="2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32337" y="3085320"/>
            <a:ext cx="1718740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</a:rPr>
              <a:t>BL19U1</a:t>
            </a:r>
            <a:endParaRPr lang="en-US" altLang="zh-CN" sz="2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432337" y="4059349"/>
            <a:ext cx="1818126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latin typeface="Arial Black" panose="020B0A04020102020204" pitchFamily="34" charset="0"/>
              </a:rPr>
              <a:t>BL17UM</a:t>
            </a:r>
            <a:endParaRPr lang="en-US" altLang="zh-CN" sz="2800" dirty="0">
              <a:latin typeface="Arial Black" panose="020B0A040201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482031" y="4956891"/>
            <a:ext cx="1718740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002060"/>
                </a:solidFill>
                <a:latin typeface="Arial Black" panose="020B0A04020102020204" pitchFamily="34" charset="0"/>
              </a:rPr>
              <a:t>BL02U1</a:t>
            </a:r>
            <a:endParaRPr lang="en-US" altLang="zh-CN" sz="28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82031" y="5787495"/>
            <a:ext cx="1718740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002060"/>
                </a:solidFill>
                <a:latin typeface="Arial Black" panose="020B0A04020102020204" pitchFamily="34" charset="0"/>
              </a:rPr>
              <a:t>BL10U1</a:t>
            </a:r>
            <a:endParaRPr lang="en-US" altLang="zh-CN" sz="28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23" name="直接连接符 22"/>
          <p:cNvCxnSpPr>
            <a:stCxn id="7" idx="3"/>
            <a:endCxn id="17" idx="1"/>
          </p:cNvCxnSpPr>
          <p:nvPr/>
        </p:nvCxnSpPr>
        <p:spPr>
          <a:xfrm flipV="1">
            <a:off x="1315921" y="2619481"/>
            <a:ext cx="1116416" cy="1224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7" idx="3"/>
            <a:endCxn id="18" idx="1"/>
          </p:cNvCxnSpPr>
          <p:nvPr/>
        </p:nvCxnSpPr>
        <p:spPr>
          <a:xfrm flipV="1">
            <a:off x="1315921" y="3346930"/>
            <a:ext cx="1116416" cy="496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7" idx="3"/>
            <a:endCxn id="19" idx="1"/>
          </p:cNvCxnSpPr>
          <p:nvPr/>
        </p:nvCxnSpPr>
        <p:spPr>
          <a:xfrm>
            <a:off x="1315921" y="3843905"/>
            <a:ext cx="1116416" cy="477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7" idx="3"/>
            <a:endCxn id="21" idx="1"/>
          </p:cNvCxnSpPr>
          <p:nvPr/>
        </p:nvCxnSpPr>
        <p:spPr>
          <a:xfrm>
            <a:off x="1315921" y="3843905"/>
            <a:ext cx="1166110" cy="1374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7" idx="3"/>
            <a:endCxn id="22" idx="1"/>
          </p:cNvCxnSpPr>
          <p:nvPr/>
        </p:nvCxnSpPr>
        <p:spPr>
          <a:xfrm>
            <a:off x="1315921" y="3843905"/>
            <a:ext cx="1166110" cy="2205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014719" y="2357871"/>
            <a:ext cx="1502334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latin typeface="Arial Black" panose="020B0A04020102020204" pitchFamily="34" charset="0"/>
              </a:defRPr>
            </a:lvl1pPr>
          </a:lstStyle>
          <a:p>
            <a:r>
              <a:rPr lang="en-US" altLang="zh-CN" dirty="0"/>
              <a:t>NFPSS</a:t>
            </a:r>
            <a:endParaRPr lang="zh-CN" altLang="en-US" dirty="0"/>
          </a:p>
        </p:txBody>
      </p:sp>
      <p:cxnSp>
        <p:nvCxnSpPr>
          <p:cNvPr id="40" name="直接连接符 39"/>
          <p:cNvCxnSpPr>
            <a:stCxn id="13" idx="3"/>
            <a:endCxn id="38" idx="1"/>
          </p:cNvCxnSpPr>
          <p:nvPr/>
        </p:nvCxnSpPr>
        <p:spPr>
          <a:xfrm>
            <a:off x="4021234" y="1918269"/>
            <a:ext cx="993485" cy="701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17" idx="3"/>
            <a:endCxn id="38" idx="1"/>
          </p:cNvCxnSpPr>
          <p:nvPr/>
        </p:nvCxnSpPr>
        <p:spPr>
          <a:xfrm>
            <a:off x="4151077" y="2619481"/>
            <a:ext cx="8636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18" idx="3"/>
            <a:endCxn id="38" idx="1"/>
          </p:cNvCxnSpPr>
          <p:nvPr/>
        </p:nvCxnSpPr>
        <p:spPr>
          <a:xfrm flipV="1">
            <a:off x="4151077" y="2619481"/>
            <a:ext cx="863642" cy="727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4716089" y="3843905"/>
            <a:ext cx="2099593" cy="95410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latin typeface="Arial Black" panose="020B0A04020102020204" pitchFamily="34" charset="0"/>
              </a:defRPr>
            </a:lvl1pPr>
          </a:lstStyle>
          <a:p>
            <a:r>
              <a:rPr lang="en-US" altLang="zh-CN" dirty="0"/>
              <a:t>Shanghai Tech</a:t>
            </a:r>
            <a:endParaRPr lang="zh-CN" altLang="en-US" dirty="0"/>
          </a:p>
        </p:txBody>
      </p:sp>
      <p:cxnSp>
        <p:nvCxnSpPr>
          <p:cNvPr id="50" name="直接连接符 49"/>
          <p:cNvCxnSpPr>
            <a:stCxn id="19" idx="3"/>
            <a:endCxn id="48" idx="1"/>
          </p:cNvCxnSpPr>
          <p:nvPr/>
        </p:nvCxnSpPr>
        <p:spPr>
          <a:xfrm>
            <a:off x="4250463" y="4320959"/>
            <a:ext cx="465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694300" y="5211390"/>
            <a:ext cx="2099593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latin typeface="Arial Black" panose="020B0A04020102020204" pitchFamily="34" charset="0"/>
              </a:defRPr>
            </a:lvl1pPr>
          </a:lstStyle>
          <a:p>
            <a:r>
              <a:rPr lang="en-US" altLang="zh-CN" dirty="0">
                <a:solidFill>
                  <a:srgbClr val="002060"/>
                </a:solidFill>
              </a:rPr>
              <a:t>SSRF</a:t>
            </a:r>
            <a:endParaRPr lang="zh-CN" altLang="en-US" dirty="0">
              <a:solidFill>
                <a:srgbClr val="002060"/>
              </a:solidFill>
            </a:endParaRPr>
          </a:p>
        </p:txBody>
      </p:sp>
      <p:cxnSp>
        <p:nvCxnSpPr>
          <p:cNvPr id="54" name="直接连接符 53"/>
          <p:cNvCxnSpPr>
            <a:stCxn id="21" idx="3"/>
            <a:endCxn id="52" idx="1"/>
          </p:cNvCxnSpPr>
          <p:nvPr/>
        </p:nvCxnSpPr>
        <p:spPr>
          <a:xfrm>
            <a:off x="4200771" y="5218501"/>
            <a:ext cx="493529" cy="254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22" idx="3"/>
            <a:endCxn id="52" idx="1"/>
          </p:cNvCxnSpPr>
          <p:nvPr/>
        </p:nvCxnSpPr>
        <p:spPr>
          <a:xfrm flipV="1">
            <a:off x="4200771" y="5473000"/>
            <a:ext cx="493529" cy="576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7572394" y="2383653"/>
            <a:ext cx="677108" cy="192655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vert="eaVert" wrap="none" rtlCol="0">
            <a:spAutoFit/>
          </a:bodyPr>
          <a:lstStyle/>
          <a:p>
            <a:r>
              <a:rPr lang="en-US" altLang="zh-CN" sz="3200" dirty="0" err="1">
                <a:latin typeface="Arial Black" panose="020B0A04020102020204" pitchFamily="34" charset="0"/>
              </a:rPr>
              <a:t>MXCube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cxnSp>
        <p:nvCxnSpPr>
          <p:cNvPr id="65" name="直接连接符 64"/>
          <p:cNvCxnSpPr>
            <a:stCxn id="38" idx="3"/>
            <a:endCxn id="63" idx="1"/>
          </p:cNvCxnSpPr>
          <p:nvPr/>
        </p:nvCxnSpPr>
        <p:spPr>
          <a:xfrm>
            <a:off x="6517053" y="2619481"/>
            <a:ext cx="1055341" cy="727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48" idx="3"/>
            <a:endCxn id="63" idx="1"/>
          </p:cNvCxnSpPr>
          <p:nvPr/>
        </p:nvCxnSpPr>
        <p:spPr>
          <a:xfrm flipV="1">
            <a:off x="6815682" y="3346930"/>
            <a:ext cx="756712" cy="974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83"/>
    </mc:Choice>
    <mc:Fallback>
      <p:transition spd="slow" advTm="2678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43735" y="422275"/>
            <a:ext cx="5288915" cy="506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 algn="ctr" defTabSz="685800">
              <a:lnSpc>
                <a:spcPct val="90000"/>
              </a:lnSpc>
              <a:buClrTx/>
              <a:buSzTx/>
              <a:buFontTx/>
            </a:pPr>
            <a:r>
              <a:rPr lang="en-US" altLang="zh-CN" sz="3500" dirty="0">
                <a:latin typeface="Arial Black" panose="020B0A04020102020204" pitchFamily="34" charset="0"/>
                <a:ea typeface="+mj-ea"/>
                <a:cs typeface="+mj-cs"/>
                <a:sym typeface="+mn-ea"/>
              </a:rPr>
              <a:t>MXCuBE</a:t>
            </a:r>
            <a:r>
              <a:rPr lang="en-US" altLang="zh-CN" sz="3500" dirty="0">
                <a:latin typeface="Arial Black" panose="020B0A04020102020204" pitchFamily="34" charset="0"/>
                <a:ea typeface="+mj-ea"/>
                <a:cs typeface="+mj-cs"/>
                <a:sym typeface="+mn-ea"/>
              </a:rPr>
              <a:t> Version</a:t>
            </a:r>
            <a:endParaRPr lang="en-US" altLang="zh-CN" sz="2000" dirty="0">
              <a:latin typeface="Arial Black" panose="020B0A04020102020204" pitchFamily="34" charset="0"/>
              <a:ea typeface="+mj-ea"/>
              <a:cs typeface="+mj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98295" y="1417320"/>
            <a:ext cx="5948045" cy="5269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800" dirty="0">
                <a:latin typeface="Arial Black" panose="020B0A04020102020204" pitchFamily="34" charset="0"/>
              </a:rPr>
              <a:t>BL17B:</a:t>
            </a:r>
            <a:endParaRPr lang="en-US" altLang="zh-CN" sz="2800" dirty="0">
              <a:latin typeface="Arial Black" panose="020B0A04020102020204" pitchFamily="34" charset="0"/>
            </a:endParaRPr>
          </a:p>
          <a:p>
            <a:r>
              <a:rPr lang="en-US" altLang="zh-CN" sz="2800" b="1" dirty="0">
                <a:latin typeface="Times New Roman Bold" panose="02020503050405090304" charset="0"/>
                <a:cs typeface="Times New Roman Bold" panose="02020503050405090304" charset="0"/>
              </a:rPr>
              <a:t>mxcubeweb version:3.1.0</a:t>
            </a:r>
            <a:endParaRPr lang="en-US" altLang="zh-CN" sz="28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2800" b="1" dirty="0">
                <a:latin typeface="Times New Roman Bold" panose="02020503050405090304" charset="0"/>
                <a:cs typeface="Times New Roman Bold" panose="02020503050405090304" charset="0"/>
              </a:rPr>
              <a:t>mxcubecore version:0.1.0</a:t>
            </a:r>
            <a:endParaRPr lang="en-US" altLang="zh-CN" sz="28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zh-CN" sz="2800" dirty="0">
              <a:latin typeface="Arial Black" panose="020B0A0402010202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800" dirty="0">
                <a:latin typeface="Arial Black" panose="020B0A04020102020204" pitchFamily="34" charset="0"/>
              </a:rPr>
              <a:t>BL18U1:</a:t>
            </a:r>
            <a:endParaRPr lang="en-US" altLang="zh-CN" sz="2800" dirty="0">
              <a:latin typeface="Arial Black" panose="020B0A04020102020204" pitchFamily="34" charset="0"/>
            </a:endParaRPr>
          </a:p>
          <a:p>
            <a:pPr algn="l">
              <a:buClrTx/>
              <a:buSzTx/>
              <a:buNone/>
            </a:pPr>
            <a:r>
              <a:rPr lang="en-US" altLang="zh-CN" sz="2800" b="1" dirty="0">
                <a:latin typeface="Times New Roman Bold" panose="02020503050405090304" charset="0"/>
                <a:cs typeface="Times New Roman Bold" panose="02020503050405090304" charset="0"/>
              </a:rPr>
              <a:t>mxcubeweb version:3.1.0</a:t>
            </a:r>
            <a:endParaRPr lang="en-US" altLang="zh-CN" sz="28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2800" b="1" dirty="0">
                <a:latin typeface="Times New Roman Bold" panose="02020503050405090304" charset="0"/>
                <a:cs typeface="Times New Roman Bold" panose="02020503050405090304" charset="0"/>
              </a:rPr>
              <a:t>mxcubecore version:1.0.0</a:t>
            </a:r>
            <a:endParaRPr lang="en-US" altLang="zh-CN" sz="28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zh-CN" sz="2800" dirty="0">
              <a:latin typeface="Arial Black" panose="020B0A0402010202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800" dirty="0">
                <a:latin typeface="Arial Black" panose="020B0A04020102020204" pitchFamily="34" charset="0"/>
              </a:rPr>
              <a:t>BL19U1:</a:t>
            </a:r>
            <a:endParaRPr lang="en-US" altLang="zh-CN" sz="2800" dirty="0">
              <a:latin typeface="Arial Black" panose="020B0A04020102020204" pitchFamily="34" charset="0"/>
            </a:endParaRPr>
          </a:p>
          <a:p>
            <a:pPr algn="l">
              <a:buClrTx/>
              <a:buSzTx/>
              <a:buNone/>
            </a:pPr>
            <a:r>
              <a:rPr lang="en-US" altLang="zh-CN" sz="2800" b="1" dirty="0">
                <a:latin typeface="Times New Roman Bold" panose="02020503050405090304" charset="0"/>
                <a:cs typeface="Times New Roman Bold" panose="02020503050405090304" charset="0"/>
              </a:rPr>
              <a:t>mxcubeweb version:3.1.0</a:t>
            </a:r>
            <a:endParaRPr lang="en-US" altLang="zh-CN" sz="28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2800" b="1" dirty="0">
                <a:latin typeface="Times New Roman Bold" panose="02020503050405090304" charset="0"/>
                <a:cs typeface="Times New Roman Bold" panose="02020503050405090304" charset="0"/>
              </a:rPr>
              <a:t>mxcubecore version:1.0.0</a:t>
            </a:r>
            <a:endParaRPr lang="en-US" altLang="zh-CN" sz="28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zh-CN" sz="1500" dirty="0"/>
          </a:p>
          <a:p>
            <a:endParaRPr lang="en-US" altLang="zh-CN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23302"/>
            <a:ext cx="7886700" cy="7608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MXCUBE Status </a:t>
            </a:r>
            <a:endParaRPr lang="zh-CN" altLang="en-US" sz="28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8650" y="788247"/>
            <a:ext cx="7886700" cy="4809142"/>
          </a:xfrm>
        </p:spPr>
        <p:txBody>
          <a:bodyPr/>
          <a:lstStyle/>
          <a:p>
            <a:r>
              <a:rPr lang="en-US" altLang="zh-CN" dirty="0"/>
              <a:t>Other development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Integrate Actor sample changer into </a:t>
            </a:r>
            <a:r>
              <a:rPr lang="en-US" altLang="zh-CN" dirty="0" err="1"/>
              <a:t>mxcube</a:t>
            </a:r>
            <a:r>
              <a:rPr lang="en-US" altLang="zh-CN" dirty="0"/>
              <a:t>.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Integrate </a:t>
            </a:r>
            <a:r>
              <a:rPr lang="en-US" altLang="zh-CN" dirty="0">
                <a:sym typeface="+mn-ea"/>
              </a:rPr>
              <a:t>FLEX sample changer into </a:t>
            </a:r>
            <a:r>
              <a:rPr lang="en-US" altLang="zh-CN" dirty="0" err="1">
                <a:sym typeface="+mn-ea"/>
              </a:rPr>
              <a:t>mxcube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Use EPICS to control the </a:t>
            </a:r>
            <a:r>
              <a:rPr lang="en-US" altLang="zh-CN"/>
              <a:t>Pilatus detector and most of the motors.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4" name="图片 3" descr="图形用户界面&#10;&#10;描述已自动生成"/>
          <p:cNvPicPr>
            <a:picLocks noChangeAspect="1"/>
          </p:cNvPicPr>
          <p:nvPr/>
        </p:nvPicPr>
        <p:blipFill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166" y="2896866"/>
            <a:ext cx="4136137" cy="270052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78" y="2896866"/>
            <a:ext cx="4159722" cy="27028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27"/>
    </mc:Choice>
    <mc:Fallback>
      <p:transition spd="slow" advTm="2342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83758"/>
            <a:ext cx="7886700" cy="6324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MXCUBE Status </a:t>
            </a:r>
            <a:endParaRPr lang="zh-CN" altLang="en-US" sz="28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8650" y="816159"/>
            <a:ext cx="7886700" cy="4809142"/>
          </a:xfrm>
        </p:spPr>
        <p:txBody>
          <a:bodyPr/>
          <a:lstStyle/>
          <a:p>
            <a:r>
              <a:rPr lang="en-US" altLang="zh-CN" dirty="0"/>
              <a:t>Other development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Auto update diffraction pattern in </a:t>
            </a:r>
            <a:r>
              <a:rPr lang="en-US" altLang="zh-CN" dirty="0" err="1"/>
              <a:t>adxv</a:t>
            </a:r>
            <a:r>
              <a:rPr lang="en-US" altLang="zh-CN" dirty="0"/>
              <a:t> / </a:t>
            </a:r>
            <a:r>
              <a:rPr lang="en-US" altLang="zh-CN" dirty="0" err="1"/>
              <a:t>Braggy</a:t>
            </a:r>
            <a:r>
              <a:rPr lang="en-US" altLang="zh-CN" dirty="0"/>
              <a:t>.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Deploy four types of auto processing pipeline.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64" y="3220730"/>
            <a:ext cx="6121190" cy="2290719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13083" y="1090241"/>
            <a:ext cx="2536742" cy="18564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27"/>
    </mc:Choice>
    <mc:Fallback>
      <p:transition spd="slow" advTm="2342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83758"/>
            <a:ext cx="7886700" cy="6324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MXCUBE Status </a:t>
            </a:r>
            <a:endParaRPr lang="zh-CN" altLang="en-US" sz="28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63525" y="1098550"/>
            <a:ext cx="8458200" cy="2568575"/>
          </a:xfrm>
        </p:spPr>
        <p:txBody>
          <a:bodyPr>
            <a:normAutofit fontScale="900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Cybersecurity (other measures)</a:t>
            </a:r>
            <a:endParaRPr lang="en-US" dirty="0"/>
          </a:p>
          <a:p>
            <a:pPr lvl="1">
              <a:lnSpc>
                <a:spcPct val="200000"/>
              </a:lnSpc>
            </a:pPr>
            <a:r>
              <a:rPr lang="en-US" dirty="0"/>
              <a:t>Most of servers in beamline only connect to the internal network.</a:t>
            </a:r>
            <a:endParaRPr lang="en-US" dirty="0"/>
          </a:p>
          <a:p>
            <a:pPr lvl="1">
              <a:lnSpc>
                <a:spcPct val="200000"/>
              </a:lnSpc>
            </a:pPr>
            <a:r>
              <a:rPr lang="en-US" dirty="0"/>
              <a:t>Use VPN to connecto only one Windows PC remotely </a:t>
            </a:r>
            <a:endParaRPr lang="en-US" dirty="0"/>
          </a:p>
          <a:p>
            <a:pPr lvl="1">
              <a:lnSpc>
                <a:spcPct val="200000"/>
              </a:lnSpc>
            </a:pPr>
            <a:r>
              <a:rPr lang="en-US" dirty="0"/>
              <a:t>Use MobaXterm or Browser (for virture system) </a:t>
            </a:r>
            <a:r>
              <a:rPr lang="en-US" dirty="0"/>
              <a:t>to connect to other system through the PC connceted with VPN</a:t>
            </a:r>
            <a:endParaRPr lang="en-US" dirty="0"/>
          </a:p>
          <a:p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8380" y="4161155"/>
            <a:ext cx="2697480" cy="1838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25" y="3667125"/>
            <a:ext cx="2304415" cy="3035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5" y="3667125"/>
            <a:ext cx="3077845" cy="30359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497705" y="4779010"/>
            <a:ext cx="346075" cy="95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97705" y="4976495"/>
            <a:ext cx="346075" cy="95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27"/>
    </mc:Choice>
    <mc:Fallback>
      <p:transition spd="slow" advTm="2342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83758"/>
            <a:ext cx="7886700" cy="6324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MXCUBE Status </a:t>
            </a:r>
            <a:endParaRPr lang="zh-CN" altLang="en-US" sz="28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8650" y="816159"/>
            <a:ext cx="7886700" cy="4809142"/>
          </a:xfrm>
        </p:spPr>
        <p:txBody>
          <a:bodyPr/>
          <a:lstStyle/>
          <a:p>
            <a:r>
              <a:rPr lang="en-US" altLang="zh-CN" dirty="0"/>
              <a:t>Cybersecurity (virtual machine)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Use VMware to run </a:t>
            </a:r>
            <a:r>
              <a:rPr lang="en-US" altLang="zh-CN" dirty="0" err="1"/>
              <a:t>mxcube</a:t>
            </a:r>
            <a:r>
              <a:rPr lang="en-US" altLang="zh-CN" dirty="0"/>
              <a:t> and </a:t>
            </a:r>
            <a:r>
              <a:rPr lang="en-US" altLang="zh-CN" dirty="0" err="1"/>
              <a:t>ispyb</a:t>
            </a:r>
            <a:r>
              <a:rPr lang="en-US" altLang="zh-CN" dirty="0"/>
              <a:t>, take snapshot for insurance.</a:t>
            </a:r>
            <a:endParaRPr lang="en-US" altLang="zh-CN" dirty="0"/>
          </a:p>
          <a:p>
            <a:pPr marL="0" lvl="1">
              <a:lnSpc>
                <a:spcPct val="150000"/>
              </a:lnSpc>
            </a:pPr>
            <a:r>
              <a:rPr lang="en-US" dirty="0">
                <a:sym typeface="+mn-ea"/>
              </a:rPr>
              <a:t> Browser (for virture system) to connect to other system through the PC connceted with VPN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77" y="2678312"/>
            <a:ext cx="6833870" cy="406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27"/>
    </mc:Choice>
    <mc:Fallback>
      <p:transition spd="slow" advTm="2342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8873"/>
            <a:ext cx="7886700" cy="874226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Developments since last meeting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3506"/>
            <a:ext cx="7886700" cy="4351338"/>
          </a:xfrm>
        </p:spPr>
        <p:txBody>
          <a:bodyPr/>
          <a:lstStyle/>
          <a:p>
            <a:r>
              <a:rPr lang="en-US" dirty="0"/>
              <a:t>Deploy MD2 computer into virtual machine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37" y="1682217"/>
            <a:ext cx="7415725" cy="37569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8873"/>
            <a:ext cx="7886700" cy="874226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Developments since last meeting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3506"/>
            <a:ext cx="7886700" cy="37098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Configure and make characteristic collection available in bl19u1.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25475" y="5509071"/>
            <a:ext cx="7580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( Maybe because that the method we use to control detector from </a:t>
            </a:r>
            <a:r>
              <a:rPr lang="en-US" altLang="zh-CN" sz="1400" dirty="0" err="1"/>
              <a:t>mxcube</a:t>
            </a:r>
            <a:r>
              <a:rPr lang="en-US" altLang="zh-CN" sz="1400" dirty="0"/>
              <a:t> is through epics, </a:t>
            </a:r>
            <a:endParaRPr lang="en-US" altLang="zh-CN" sz="1400" dirty="0"/>
          </a:p>
          <a:p>
            <a:r>
              <a:rPr lang="en-US" altLang="zh-CN" sz="1400" dirty="0"/>
              <a:t>we found the original code was not suitable ,so we rewrite most of</a:t>
            </a:r>
            <a:r>
              <a:rPr lang="zh-CN" altLang="en-US" sz="1400" dirty="0"/>
              <a:t> </a:t>
            </a:r>
            <a:r>
              <a:rPr lang="en-US" altLang="zh-CN" sz="1400" dirty="0"/>
              <a:t>code related to this function.)</a:t>
            </a:r>
            <a:endParaRPr lang="en-US" altLang="zh-CN" sz="1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474" y="1829603"/>
            <a:ext cx="3560339" cy="295639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639" y="1829602"/>
            <a:ext cx="3681757" cy="29492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8873"/>
            <a:ext cx="7886700" cy="874226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Developments since last meeting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18692"/>
            <a:ext cx="6815019" cy="532167"/>
          </a:xfrm>
        </p:spPr>
        <p:txBody>
          <a:bodyPr/>
          <a:lstStyle/>
          <a:p>
            <a:r>
              <a:rPr lang="en-US" altLang="zh-CN" dirty="0"/>
              <a:t>Change the UI of auto processing pipeline.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25475" y="5620747"/>
            <a:ext cx="4778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(use the </a:t>
            </a:r>
            <a:r>
              <a:rPr lang="en-US" altLang="zh-CN" sz="1400" dirty="0" err="1"/>
              <a:t>SynchWeb</a:t>
            </a:r>
            <a:r>
              <a:rPr lang="en-US" altLang="zh-CN" sz="1400" dirty="0"/>
              <a:t> of Diamond Light Source as reference .)</a:t>
            </a:r>
            <a:endParaRPr lang="en-US" altLang="zh-CN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7"/>
          <a:stretch>
            <a:fillRect/>
          </a:stretch>
        </p:blipFill>
        <p:spPr>
          <a:xfrm>
            <a:off x="600927" y="1361129"/>
            <a:ext cx="7914423" cy="397324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54443" y="3000203"/>
            <a:ext cx="17716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</a:rPr>
              <a:t>4 auto processing method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1521673" y="3168989"/>
            <a:ext cx="488611" cy="928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8873"/>
            <a:ext cx="7886700" cy="874226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Developments since last meeting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11714"/>
            <a:ext cx="6815019" cy="532167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Update the BL17B beamline </a:t>
            </a:r>
            <a:r>
              <a:rPr lang="en-US" altLang="zh-CN" dirty="0" err="1"/>
              <a:t>mxcube</a:t>
            </a:r>
            <a:r>
              <a:rPr lang="en-US" altLang="zh-CN" dirty="0"/>
              <a:t> to the latest version from </a:t>
            </a:r>
            <a:r>
              <a:rPr lang="en-US" altLang="zh-CN" dirty="0">
                <a:solidFill>
                  <a:srgbClr val="FF0000"/>
                </a:solidFill>
              </a:rPr>
              <a:t>2022.2</a:t>
            </a:r>
            <a:r>
              <a:rPr lang="en-US" altLang="zh-CN" dirty="0"/>
              <a:t> to </a:t>
            </a:r>
            <a:r>
              <a:rPr lang="en-US" altLang="zh-CN" dirty="0">
                <a:solidFill>
                  <a:srgbClr val="FF0000"/>
                </a:solidFill>
              </a:rPr>
              <a:t>2024.10</a:t>
            </a:r>
            <a:r>
              <a:rPr lang="en-US" altLang="zh-CN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30199" y="1331397"/>
            <a:ext cx="439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1.The file structure is clearer.</a:t>
            </a:r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120" y="1923304"/>
            <a:ext cx="3609975" cy="20955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995703" y="1565095"/>
            <a:ext cx="1334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Old version</a:t>
            </a:r>
            <a:endParaRPr lang="en-US" altLang="zh-CN" dirty="0"/>
          </a:p>
        </p:txBody>
      </p:sp>
      <p:sp>
        <p:nvSpPr>
          <p:cNvPr id="15" name="文本框 14"/>
          <p:cNvSpPr txBox="1"/>
          <p:nvPr/>
        </p:nvSpPr>
        <p:spPr>
          <a:xfrm>
            <a:off x="5869507" y="1565095"/>
            <a:ext cx="1439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New version</a:t>
            </a:r>
            <a:endParaRPr lang="en-US" altLang="zh-CN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076" y="1997706"/>
            <a:ext cx="3000375" cy="14097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66699" y="4109784"/>
            <a:ext cx="7589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The front-end has not changed much, and features will be added later as needed.</a:t>
            </a:r>
            <a:endParaRPr lang="en-US" altLang="zh-CN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607" y="4550416"/>
            <a:ext cx="4058556" cy="20459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8873"/>
            <a:ext cx="7886700" cy="874226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Developments since last meeting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92791"/>
            <a:ext cx="7886700" cy="736206"/>
          </a:xfrm>
        </p:spPr>
        <p:txBody>
          <a:bodyPr/>
          <a:lstStyle/>
          <a:p>
            <a:r>
              <a:rPr lang="en-US" altLang="zh-CN" sz="1800" dirty="0"/>
              <a:t>Change the UI of </a:t>
            </a:r>
            <a:r>
              <a:rPr lang="en-US" altLang="zh-CN" sz="1800" dirty="0" err="1"/>
              <a:t>mxcube</a:t>
            </a:r>
            <a:r>
              <a:rPr lang="en-US" altLang="zh-CN" sz="1800" dirty="0"/>
              <a:t> to prepare for the integration of Flex sample changer</a:t>
            </a:r>
            <a:endParaRPr lang="en-US" altLang="zh-CN" sz="18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13349"/>
            <a:ext cx="3547008" cy="195262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68427" y="1413839"/>
            <a:ext cx="20473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puck number increased to 37</a:t>
            </a:r>
            <a:endParaRPr lang="zh-CN" altLang="en-US" sz="11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856" y="4238889"/>
            <a:ext cx="3573841" cy="2217401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>
            <a:off x="3315782" y="1378485"/>
            <a:ext cx="1912352" cy="261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46288" y="3851367"/>
            <a:ext cx="29017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React component may stuck when loading</a:t>
            </a:r>
            <a:endParaRPr lang="zh-CN" altLang="en-US" sz="1100" b="1" dirty="0"/>
          </a:p>
        </p:txBody>
      </p:sp>
      <p:sp>
        <p:nvSpPr>
          <p:cNvPr id="11" name="左箭头 10"/>
          <p:cNvSpPr/>
          <p:nvPr/>
        </p:nvSpPr>
        <p:spPr>
          <a:xfrm>
            <a:off x="3315782" y="3791890"/>
            <a:ext cx="1863701" cy="32108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82196" y="3791890"/>
            <a:ext cx="25362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Mount sample by type the puck and </a:t>
            </a:r>
            <a:endParaRPr lang="en-US" altLang="zh-CN" sz="1100" b="1" dirty="0"/>
          </a:p>
          <a:p>
            <a:r>
              <a:rPr lang="en-US" altLang="zh-CN" sz="1100" b="1" dirty="0" err="1"/>
              <a:t>smaple</a:t>
            </a:r>
            <a:r>
              <a:rPr lang="en-US" altLang="zh-CN" sz="1100" b="1" dirty="0"/>
              <a:t> ID</a:t>
            </a:r>
            <a:endParaRPr lang="zh-CN" altLang="en-US" sz="11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96" y="4238889"/>
            <a:ext cx="3555624" cy="2175544"/>
          </a:xfrm>
          <a:prstGeom prst="rect">
            <a:avLst/>
          </a:prstGeom>
        </p:spPr>
      </p:pic>
      <p:pic>
        <p:nvPicPr>
          <p:cNvPr id="13" name="图片 12" descr="C:\Users\lenovo\Documents\WeChat Files\tangjianchao003\FileStorage\Temp\d7a8252807267c9dbf48151433eb8c9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514" y="1675449"/>
            <a:ext cx="3205304" cy="203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37" y="81346"/>
            <a:ext cx="7886700" cy="1325563"/>
          </a:xfrm>
        </p:spPr>
        <p:txBody>
          <a:bodyPr/>
          <a:lstStyle/>
          <a:p>
            <a:pPr algn="ctr"/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Updates and Adjustments to the MXCUBE Data Collection Interface</a:t>
            </a:r>
            <a:endParaRPr lang="zh-CN" altLang="en-US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91" y="1406909"/>
            <a:ext cx="8794418" cy="45859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52045" y="3116721"/>
            <a:ext cx="2917164" cy="6805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32939" y="2322783"/>
            <a:ext cx="2936270" cy="5586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378773" y="2417421"/>
            <a:ext cx="1745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latin typeface="Arial" panose="020B0604020202090204" pitchFamily="34" charset="0"/>
                <a:cs typeface="Arial" panose="020B0604020202090204" pitchFamily="34" charset="0"/>
              </a:rPr>
              <a:t>Sample change </a:t>
            </a:r>
            <a:endParaRPr lang="zh-CN" altLang="en-US" sz="16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27652" y="3361350"/>
            <a:ext cx="20553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Arial" panose="020B0604020202090204" pitchFamily="34" charset="0"/>
                <a:cs typeface="Arial" panose="020B0604020202090204" pitchFamily="34" charset="0"/>
              </a:rPr>
              <a:t>Parameter Settings</a:t>
            </a:r>
            <a:endParaRPr lang="zh-CN" altLang="en-US" sz="16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269" y="95913"/>
            <a:ext cx="8597462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Integration of the in situ crystallization plate diffraction interface into MXCuBE3</a:t>
            </a:r>
            <a:endParaRPr lang="zh-CN" altLang="en-US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69" y="1553878"/>
            <a:ext cx="8461304" cy="4501733"/>
          </a:xfrm>
        </p:spPr>
      </p:pic>
      <p:sp>
        <p:nvSpPr>
          <p:cNvPr id="6" name="文本框 5"/>
          <p:cNvSpPr txBox="1"/>
          <p:nvPr/>
        </p:nvSpPr>
        <p:spPr>
          <a:xfrm>
            <a:off x="6043448" y="2448911"/>
            <a:ext cx="2598026" cy="10930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422" y="4821219"/>
            <a:ext cx="2438400" cy="19408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8873"/>
            <a:ext cx="7886700" cy="874226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Plans for the next six months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9304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Raster Scan and Helical Scan.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Complete the configuration of </a:t>
            </a:r>
            <a:r>
              <a:rPr lang="en-US" altLang="zh-CN" dirty="0" err="1"/>
              <a:t>ISPyB</a:t>
            </a:r>
            <a:r>
              <a:rPr lang="en-US" altLang="zh-CN" dirty="0"/>
              <a:t> and connect the database with </a:t>
            </a:r>
            <a:r>
              <a:rPr lang="en-US" altLang="zh-CN" dirty="0" err="1"/>
              <a:t>MXCuBE</a:t>
            </a:r>
            <a:r>
              <a:rPr lang="en-US" altLang="zh-CN" dirty="0"/>
              <a:t>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Lims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762" y="4491373"/>
            <a:ext cx="2639648" cy="186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6814103" y="3929512"/>
            <a:ext cx="1701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b="0" i="0" dirty="0">
                <a:solidFill>
                  <a:srgbClr val="800080"/>
                </a:solidFill>
                <a:effectLst/>
                <a:latin typeface="Roboto" panose="02000000000000000000" pitchFamily="2" charset="0"/>
              </a:rPr>
              <a:t>FLEX-ED35</a:t>
            </a:r>
            <a:endParaRPr lang="en-US" altLang="zh-CN" b="0" i="0" dirty="0">
              <a:solidFill>
                <a:srgbClr val="444444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08435" y="840143"/>
            <a:ext cx="7161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rgbClr val="0070C0"/>
                </a:solidFill>
                <a:latin typeface="Arial Black" panose="020B0A04020102020204" pitchFamily="34" charset="0"/>
              </a:rPr>
              <a:t>Thank you for your attention! </a:t>
            </a:r>
            <a:endParaRPr lang="zh-CN" altLang="en-US" sz="3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81" y="1800292"/>
            <a:ext cx="7870418" cy="48347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903"/>
    </mc:Choice>
    <mc:Fallback>
      <p:transition spd="slow" advTm="15903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3036</Words>
  <Application>WPS 文字</Application>
  <PresentationFormat>全屏显示(4:3)</PresentationFormat>
  <Paragraphs>188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3" baseType="lpstr">
      <vt:lpstr>Arial</vt:lpstr>
      <vt:lpstr>宋体</vt:lpstr>
      <vt:lpstr>Wingdings</vt:lpstr>
      <vt:lpstr>Arial Black</vt:lpstr>
      <vt:lpstr>Calibri Light</vt:lpstr>
      <vt:lpstr>Helvetica Neue</vt:lpstr>
      <vt:lpstr>Calibri Light</vt:lpstr>
      <vt:lpstr>Roboto</vt:lpstr>
      <vt:lpstr>等线 Light</vt:lpstr>
      <vt:lpstr>汉仪中等线KW</vt:lpstr>
      <vt:lpstr>微软雅黑</vt:lpstr>
      <vt:lpstr>汉仪旗黑</vt:lpstr>
      <vt:lpstr>宋体</vt:lpstr>
      <vt:lpstr>Arial Unicode MS</vt:lpstr>
      <vt:lpstr>等线</vt:lpstr>
      <vt:lpstr>Calibri</vt:lpstr>
      <vt:lpstr>汉仪书宋二KW</vt:lpstr>
      <vt:lpstr>苹方-简</vt:lpstr>
      <vt:lpstr>Wingdings</vt:lpstr>
      <vt:lpstr>蘋果儷中黑</vt:lpstr>
      <vt:lpstr>蘋果儷細宋</vt:lpstr>
      <vt:lpstr>Xingkai SC Light</vt:lpstr>
      <vt:lpstr>Times New Roman Regular</vt:lpstr>
      <vt:lpstr>Times New Roman Bold</vt:lpstr>
      <vt:lpstr>Office 主题​​</vt:lpstr>
      <vt:lpstr>PowerPoint 演示文稿</vt:lpstr>
      <vt:lpstr>Shanghai Synchrotron Radiation Facility</vt:lpstr>
      <vt:lpstr>National Facility for Protein Science . Shanghai</vt:lpstr>
      <vt:lpstr>MX Beamlines at SSRF</vt:lpstr>
      <vt:lpstr>PowerPoint 演示文稿</vt:lpstr>
      <vt:lpstr>MXCUBE Status </vt:lpstr>
      <vt:lpstr>MXCUBE Status </vt:lpstr>
      <vt:lpstr>MXCUBE Status </vt:lpstr>
      <vt:lpstr>MXCUBE Status </vt:lpstr>
      <vt:lpstr>Developments since last meeting</vt:lpstr>
      <vt:lpstr>Developments since last meeting</vt:lpstr>
      <vt:lpstr>Developments since last meeting</vt:lpstr>
      <vt:lpstr>Developments since last meeting</vt:lpstr>
      <vt:lpstr>Developments since last meeting</vt:lpstr>
      <vt:lpstr>Updates and Adjustments to the MXCUBE Data Collection Interface</vt:lpstr>
      <vt:lpstr>Integration of the in situ crystallization plate diffraction interface into MXCuBE3</vt:lpstr>
      <vt:lpstr>Plans for the next six months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of NFPS MX Beamlines at SSRF</dc:title>
  <dc:creator>NTKO</dc:creator>
  <cp:lastModifiedBy>qin</cp:lastModifiedBy>
  <cp:revision>352</cp:revision>
  <dcterms:created xsi:type="dcterms:W3CDTF">2025-06-01T02:46:43Z</dcterms:created>
  <dcterms:modified xsi:type="dcterms:W3CDTF">2025-06-01T02:46:43Z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47C88D1826B7C87B00492B683BA30840_42</vt:lpwstr>
  </property>
  <property fmtid="{D5CDD505-2E9C-101B-9397-08002B2CF9AE}" pid="3" name="KSOProductBuildVer">
    <vt:lpwstr>2052-7.4.1.8983</vt:lpwstr>
  </property>
</Properties>
</file>